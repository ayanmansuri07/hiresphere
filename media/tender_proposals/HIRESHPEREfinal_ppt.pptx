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EDE7"/>
    <a:srgbClr val="F0F0F0"/>
    <a:srgbClr val="BA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F57BC8-EC8E-49DC-BF3A-6916455FBB05}"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0A7FAC-1636-448E-9E9A-15C466DAB87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7007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F57BC8-EC8E-49DC-BF3A-6916455FBB05}"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816063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F57BC8-EC8E-49DC-BF3A-6916455FBB05}"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0A7FAC-1636-448E-9E9A-15C466DAB87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56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F57BC8-EC8E-49DC-BF3A-6916455FBB05}" type="datetimeFigureOut">
              <a:rPr lang="en-IN" smtClean="0"/>
              <a:t>18-04-2025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3977606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F57BC8-EC8E-49DC-BF3A-6916455FBB05}" type="datetimeFigureOut">
              <a:rPr lang="en-IN" smtClean="0"/>
              <a:t>18-04-2025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2456352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F57BC8-EC8E-49DC-BF3A-6916455FBB05}" type="datetimeFigureOut">
              <a:rPr lang="en-IN" smtClean="0"/>
              <a:t>18-04-2025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1102778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1F57BC8-EC8E-49DC-BF3A-6916455FBB05}" type="datetimeFigureOut">
              <a:rPr lang="en-IN" smtClean="0"/>
              <a:t>18-04-2025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3184453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1F57BC8-EC8E-49DC-BF3A-6916455FBB05}" type="datetimeFigureOut">
              <a:rPr lang="en-IN" smtClean="0"/>
              <a:t>18-04-2025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B0A7FAC-1636-448E-9E9A-15C466DAB87A}" type="slidenum">
              <a:rPr lang="en-IN" smtClean="0"/>
              <a:t>‹#›</a:t>
            </a:fld>
            <a:endParaRPr lang="en-IN"/>
          </a:p>
        </p:txBody>
      </p:sp>
    </p:spTree>
    <p:extLst>
      <p:ext uri="{BB962C8B-B14F-4D97-AF65-F5344CB8AC3E}">
        <p14:creationId xmlns:p14="http://schemas.microsoft.com/office/powerpoint/2010/main" val="3273042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F57BC8-EC8E-49DC-BF3A-6916455FBB05}" type="datetimeFigureOut">
              <a:rPr lang="en-IN" smtClean="0"/>
              <a:t>18-04-2025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3618229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F57BC8-EC8E-49DC-BF3A-6916455FBB05}"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3447043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F57BC8-EC8E-49DC-BF3A-6916455FBB05}"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0A7FAC-1636-448E-9E9A-15C466DAB87A}" type="slidenum">
              <a:rPr lang="en-IN" smtClean="0"/>
              <a:t>‹#›</a:t>
            </a:fld>
            <a:endParaRPr lang="en-IN"/>
          </a:p>
        </p:txBody>
      </p:sp>
    </p:spTree>
    <p:extLst>
      <p:ext uri="{BB962C8B-B14F-4D97-AF65-F5344CB8AC3E}">
        <p14:creationId xmlns:p14="http://schemas.microsoft.com/office/powerpoint/2010/main" val="2307761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F57BC8-EC8E-49DC-BF3A-6916455FBB05}" type="datetimeFigureOut">
              <a:rPr lang="en-IN" smtClean="0"/>
              <a:t>18-04-2025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B0A7FAC-1636-448E-9E9A-15C466DAB87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447211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com/"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7.xml"/><Relationship Id="rId4" Type="http://schemas.openxmlformats.org/officeDocument/2006/relationships/hyperlink" Target="https://app.diagrams.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4387-553D-F8FA-2382-8C2FAB484D5C}"/>
              </a:ext>
            </a:extLst>
          </p:cNvPr>
          <p:cNvSpPr>
            <a:spLocks noGrp="1"/>
          </p:cNvSpPr>
          <p:nvPr>
            <p:ph type="ctrTitle"/>
          </p:nvPr>
        </p:nvSpPr>
        <p:spPr>
          <a:xfrm>
            <a:off x="2688165" y="2817616"/>
            <a:ext cx="6815669" cy="1515533"/>
          </a:xfrm>
        </p:spPr>
        <p:txBody>
          <a:bodyPr>
            <a:normAutofit/>
          </a:bodyPr>
          <a:lstStyle/>
          <a:p>
            <a:r>
              <a:rPr lang="en-US" sz="7200" b="1" dirty="0">
                <a:latin typeface="Times New Roman" panose="02020603050405020304" pitchFamily="18" charset="0"/>
                <a:cs typeface="Times New Roman" panose="02020603050405020304" pitchFamily="18" charset="0"/>
              </a:rPr>
              <a:t>HIRESHPERE</a:t>
            </a:r>
            <a:endParaRPr lang="en-IN"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1275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a:extLst>
              <a:ext uri="{FF2B5EF4-FFF2-40B4-BE49-F238E27FC236}">
                <a16:creationId xmlns:a16="http://schemas.microsoft.com/office/drawing/2014/main" id="{F13D1D97-0DB6-A358-0D1A-86C5C0678FCE}"/>
              </a:ext>
            </a:extLst>
          </p:cNvPr>
          <p:cNvSpPr/>
          <p:nvPr/>
        </p:nvSpPr>
        <p:spPr>
          <a:xfrm>
            <a:off x="3256547" y="112294"/>
            <a:ext cx="5514756" cy="1588250"/>
          </a:xfrm>
          <a:custGeom>
            <a:avLst/>
            <a:gdLst/>
            <a:ahLst/>
            <a:cxnLst/>
            <a:rect l="l" t="t" r="r" b="b"/>
            <a:pathLst>
              <a:path w="5514756" h="1588250">
                <a:moveTo>
                  <a:pt x="0" y="0"/>
                </a:moveTo>
                <a:lnTo>
                  <a:pt x="5514756" y="0"/>
                </a:lnTo>
                <a:lnTo>
                  <a:pt x="5514756" y="1588249"/>
                </a:lnTo>
                <a:lnTo>
                  <a:pt x="0" y="1588249"/>
                </a:lnTo>
                <a:lnTo>
                  <a:pt x="0" y="0"/>
                </a:lnTo>
                <a:close/>
              </a:path>
            </a:pathLst>
          </a:custGeom>
          <a:blipFill>
            <a:blip r:embed="rId2"/>
            <a:stretch>
              <a:fillRect/>
            </a:stretch>
          </a:blipFill>
        </p:spPr>
        <p:txBody>
          <a:bodyPr/>
          <a:lstStyle/>
          <a:p>
            <a:endParaRPr lang="en-IN"/>
          </a:p>
        </p:txBody>
      </p:sp>
      <p:sp>
        <p:nvSpPr>
          <p:cNvPr id="13" name="TextBox 12">
            <a:extLst>
              <a:ext uri="{FF2B5EF4-FFF2-40B4-BE49-F238E27FC236}">
                <a16:creationId xmlns:a16="http://schemas.microsoft.com/office/drawing/2014/main" id="{1B5AB974-F98B-AA80-CCD8-50EC3680B738}"/>
              </a:ext>
            </a:extLst>
          </p:cNvPr>
          <p:cNvSpPr txBox="1"/>
          <p:nvPr/>
        </p:nvSpPr>
        <p:spPr>
          <a:xfrm>
            <a:off x="609600" y="1602712"/>
            <a:ext cx="6096000"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Presented by</a:t>
            </a:r>
          </a:p>
        </p:txBody>
      </p:sp>
      <p:sp>
        <p:nvSpPr>
          <p:cNvPr id="16" name="TextBox 15">
            <a:extLst>
              <a:ext uri="{FF2B5EF4-FFF2-40B4-BE49-F238E27FC236}">
                <a16:creationId xmlns:a16="http://schemas.microsoft.com/office/drawing/2014/main" id="{B35D8EA6-6E39-5873-847E-F66AA3DFD355}"/>
              </a:ext>
            </a:extLst>
          </p:cNvPr>
          <p:cNvSpPr txBox="1"/>
          <p:nvPr/>
        </p:nvSpPr>
        <p:spPr>
          <a:xfrm>
            <a:off x="609600" y="2812759"/>
            <a:ext cx="5293894" cy="1539845"/>
          </a:xfrm>
          <a:prstGeom prst="rect">
            <a:avLst/>
          </a:prstGeom>
          <a:noFill/>
        </p:spPr>
        <p:txBody>
          <a:bodyPr wrap="square">
            <a:spAutoFit/>
          </a:bodyPr>
          <a:lstStyle/>
          <a:p>
            <a:pPr algn="l">
              <a:lnSpc>
                <a:spcPts val="3899"/>
              </a:lnSpc>
            </a:pPr>
            <a:r>
              <a:rPr lang="en-US" sz="2400" b="1" spc="67" dirty="0">
                <a:solidFill>
                  <a:srgbClr val="2A2E3A"/>
                </a:solidFill>
                <a:latin typeface="Times New Roman" panose="02020603050405020304" pitchFamily="18" charset="0"/>
                <a:ea typeface="Helios"/>
                <a:cs typeface="Times New Roman" panose="02020603050405020304" pitchFamily="18" charset="0"/>
                <a:sym typeface="Helios"/>
              </a:rPr>
              <a:t>Ayan Mansuri( 202212102020 )</a:t>
            </a:r>
          </a:p>
          <a:p>
            <a:pPr algn="l">
              <a:lnSpc>
                <a:spcPts val="3899"/>
              </a:lnSpc>
            </a:pPr>
            <a:r>
              <a:rPr lang="en-US" sz="2400" b="1" spc="67" dirty="0">
                <a:solidFill>
                  <a:srgbClr val="2A2E3A"/>
                </a:solidFill>
                <a:latin typeface="Times New Roman" panose="02020603050405020304" pitchFamily="18" charset="0"/>
                <a:ea typeface="Helios"/>
                <a:cs typeface="Times New Roman" panose="02020603050405020304" pitchFamily="18" charset="0"/>
                <a:sym typeface="Helios"/>
              </a:rPr>
              <a:t>Shubham </a:t>
            </a:r>
            <a:r>
              <a:rPr lang="en-US" sz="2400" b="1" spc="67" dirty="0" err="1">
                <a:solidFill>
                  <a:srgbClr val="2A2E3A"/>
                </a:solidFill>
                <a:latin typeface="Times New Roman" panose="02020603050405020304" pitchFamily="18" charset="0"/>
                <a:ea typeface="Helios"/>
                <a:cs typeface="Times New Roman" panose="02020603050405020304" pitchFamily="18" charset="0"/>
                <a:sym typeface="Helios"/>
              </a:rPr>
              <a:t>Pipala</a:t>
            </a:r>
            <a:r>
              <a:rPr lang="en-US" sz="2400" b="1" spc="67" dirty="0">
                <a:solidFill>
                  <a:srgbClr val="2A2E3A"/>
                </a:solidFill>
                <a:latin typeface="Times New Roman" panose="02020603050405020304" pitchFamily="18" charset="0"/>
                <a:ea typeface="Helios"/>
                <a:cs typeface="Times New Roman" panose="02020603050405020304" pitchFamily="18" charset="0"/>
                <a:sym typeface="Helios"/>
              </a:rPr>
              <a:t>( 202212102075)</a:t>
            </a:r>
          </a:p>
          <a:p>
            <a:pPr marL="0" lvl="0" indent="0" algn="l">
              <a:lnSpc>
                <a:spcPts val="3899"/>
              </a:lnSpc>
            </a:pPr>
            <a:r>
              <a:rPr lang="en-US" sz="2400" b="1" spc="67" dirty="0">
                <a:solidFill>
                  <a:srgbClr val="2A2E3A"/>
                </a:solidFill>
                <a:latin typeface="Times New Roman" panose="02020603050405020304" pitchFamily="18" charset="0"/>
                <a:ea typeface="Helios"/>
                <a:cs typeface="Times New Roman" panose="02020603050405020304" pitchFamily="18" charset="0"/>
                <a:sym typeface="Helios"/>
              </a:rPr>
              <a:t>Yash Prajapati(202212102083)</a:t>
            </a:r>
          </a:p>
        </p:txBody>
      </p:sp>
      <p:sp>
        <p:nvSpPr>
          <p:cNvPr id="20" name="TextBox 19">
            <a:extLst>
              <a:ext uri="{FF2B5EF4-FFF2-40B4-BE49-F238E27FC236}">
                <a16:creationId xmlns:a16="http://schemas.microsoft.com/office/drawing/2014/main" id="{4B8163CC-1D9A-2271-50C3-13202790FFD2}"/>
              </a:ext>
            </a:extLst>
          </p:cNvPr>
          <p:cNvSpPr txBox="1"/>
          <p:nvPr/>
        </p:nvSpPr>
        <p:spPr>
          <a:xfrm>
            <a:off x="8678778" y="1602712"/>
            <a:ext cx="2903622"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Guided by</a:t>
            </a:r>
          </a:p>
        </p:txBody>
      </p:sp>
      <p:sp>
        <p:nvSpPr>
          <p:cNvPr id="22" name="TextBox 21">
            <a:extLst>
              <a:ext uri="{FF2B5EF4-FFF2-40B4-BE49-F238E27FC236}">
                <a16:creationId xmlns:a16="http://schemas.microsoft.com/office/drawing/2014/main" id="{B75DF95A-6DB0-D054-CF43-239C37AD4C80}"/>
              </a:ext>
            </a:extLst>
          </p:cNvPr>
          <p:cNvSpPr txBox="1"/>
          <p:nvPr/>
        </p:nvSpPr>
        <p:spPr>
          <a:xfrm>
            <a:off x="8213559" y="3044279"/>
            <a:ext cx="3368841" cy="769441"/>
          </a:xfrm>
          <a:prstGeom prst="rect">
            <a:avLst/>
          </a:prstGeom>
          <a:noFill/>
        </p:spPr>
        <p:txBody>
          <a:bodyPr wrap="square">
            <a:spAutoFit/>
          </a:bodyPr>
          <a:lstStyle/>
          <a:p>
            <a:r>
              <a:rPr lang="en-IN"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Trupti</a:t>
            </a:r>
            <a:r>
              <a:rPr lang="en-IN" sz="4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Mam</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062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13BDDB-F26E-E934-8FD6-60F9787778E9}"/>
              </a:ext>
            </a:extLst>
          </p:cNvPr>
          <p:cNvGrpSpPr/>
          <p:nvPr/>
        </p:nvGrpSpPr>
        <p:grpSpPr>
          <a:xfrm>
            <a:off x="-328245" y="1"/>
            <a:ext cx="12778154" cy="1781907"/>
            <a:chOff x="0" y="0"/>
            <a:chExt cx="24384000" cy="5030819"/>
          </a:xfrm>
        </p:grpSpPr>
        <p:pic>
          <p:nvPicPr>
            <p:cNvPr id="3" name="Picture 2">
              <a:extLst>
                <a:ext uri="{FF2B5EF4-FFF2-40B4-BE49-F238E27FC236}">
                  <a16:creationId xmlns:a16="http://schemas.microsoft.com/office/drawing/2014/main" id="{A232A9AA-49D6-9E0F-6D45-BCC49F92EDCE}"/>
                </a:ext>
              </a:extLst>
            </p:cNvPr>
            <p:cNvPicPr>
              <a:picLocks noChangeAspect="1"/>
            </p:cNvPicPr>
            <p:nvPr/>
          </p:nvPicPr>
          <p:blipFill>
            <a:blip r:embed="rId2">
              <a:alphaModFix amt="14000"/>
            </a:blip>
            <a:srcRect t="27933" b="41099"/>
            <a:stretch>
              <a:fillRect/>
            </a:stretch>
          </p:blipFill>
          <p:spPr>
            <a:xfrm>
              <a:off x="0" y="0"/>
              <a:ext cx="24384000" cy="5030819"/>
            </a:xfrm>
            <a:prstGeom prst="rect">
              <a:avLst/>
            </a:prstGeom>
          </p:spPr>
        </p:pic>
      </p:grpSp>
      <p:sp>
        <p:nvSpPr>
          <p:cNvPr id="7" name="TextBox 6">
            <a:extLst>
              <a:ext uri="{FF2B5EF4-FFF2-40B4-BE49-F238E27FC236}">
                <a16:creationId xmlns:a16="http://schemas.microsoft.com/office/drawing/2014/main" id="{30A156CA-8F1A-5976-257A-6A0EF38BE5E6}"/>
              </a:ext>
            </a:extLst>
          </p:cNvPr>
          <p:cNvSpPr txBox="1"/>
          <p:nvPr/>
        </p:nvSpPr>
        <p:spPr>
          <a:xfrm>
            <a:off x="5278316" y="549835"/>
            <a:ext cx="1565031"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Index</a:t>
            </a:r>
          </a:p>
        </p:txBody>
      </p:sp>
      <p:sp>
        <p:nvSpPr>
          <p:cNvPr id="9" name="TextBox 8">
            <a:extLst>
              <a:ext uri="{FF2B5EF4-FFF2-40B4-BE49-F238E27FC236}">
                <a16:creationId xmlns:a16="http://schemas.microsoft.com/office/drawing/2014/main" id="{663C6A9A-339E-C2CB-6FEB-A8DA59B4C887}"/>
              </a:ext>
            </a:extLst>
          </p:cNvPr>
          <p:cNvSpPr txBox="1"/>
          <p:nvPr/>
        </p:nvSpPr>
        <p:spPr>
          <a:xfrm>
            <a:off x="1018112" y="2070965"/>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Project Profile ________________________________________________________________   .3</a:t>
            </a:r>
          </a:p>
        </p:txBody>
      </p:sp>
      <p:sp>
        <p:nvSpPr>
          <p:cNvPr id="10" name="TextBox 9">
            <a:extLst>
              <a:ext uri="{FF2B5EF4-FFF2-40B4-BE49-F238E27FC236}">
                <a16:creationId xmlns:a16="http://schemas.microsoft.com/office/drawing/2014/main" id="{107126E9-5F2F-4FA1-7F61-8BDD5D46510C}"/>
              </a:ext>
            </a:extLst>
          </p:cNvPr>
          <p:cNvSpPr txBox="1"/>
          <p:nvPr/>
        </p:nvSpPr>
        <p:spPr>
          <a:xfrm>
            <a:off x="1018112" y="2435280"/>
            <a:ext cx="10155775" cy="521553"/>
          </a:xfrm>
          <a:prstGeom prst="rect">
            <a:avLst/>
          </a:prstGeom>
          <a:noFill/>
        </p:spPr>
        <p:txBody>
          <a:bodyPr wrap="square">
            <a:spAutoFit/>
          </a:bodyPr>
          <a:lstStyle/>
          <a:p>
            <a:pPr algn="l">
              <a:lnSpc>
                <a:spcPts val="3899"/>
              </a:lnSpc>
            </a:pPr>
            <a:r>
              <a:rPr lang="en-US" sz="1800" b="1" spc="67" dirty="0" err="1">
                <a:solidFill>
                  <a:srgbClr val="2A2E3A"/>
                </a:solidFill>
                <a:latin typeface="Times New Roman" panose="02020603050405020304" pitchFamily="18" charset="0"/>
                <a:ea typeface="Helios"/>
                <a:cs typeface="Times New Roman" panose="02020603050405020304" pitchFamily="18" charset="0"/>
                <a:sym typeface="Helios"/>
              </a:rPr>
              <a:t>Porject</a:t>
            </a: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 Description ____________________________________________________________   .3</a:t>
            </a:r>
          </a:p>
        </p:txBody>
      </p:sp>
      <p:sp>
        <p:nvSpPr>
          <p:cNvPr id="11" name="TextBox 10">
            <a:extLst>
              <a:ext uri="{FF2B5EF4-FFF2-40B4-BE49-F238E27FC236}">
                <a16:creationId xmlns:a16="http://schemas.microsoft.com/office/drawing/2014/main" id="{A051254A-2A5B-1A5A-1256-6A49ABCA840F}"/>
              </a:ext>
            </a:extLst>
          </p:cNvPr>
          <p:cNvSpPr txBox="1"/>
          <p:nvPr/>
        </p:nvSpPr>
        <p:spPr>
          <a:xfrm>
            <a:off x="1018112" y="3162715"/>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Company Screen Layout ________________________________________________________   .3</a:t>
            </a:r>
          </a:p>
        </p:txBody>
      </p:sp>
      <p:sp>
        <p:nvSpPr>
          <p:cNvPr id="12" name="TextBox 11">
            <a:extLst>
              <a:ext uri="{FF2B5EF4-FFF2-40B4-BE49-F238E27FC236}">
                <a16:creationId xmlns:a16="http://schemas.microsoft.com/office/drawing/2014/main" id="{3CEA61C4-CFE9-501A-1210-EE392631FFBD}"/>
              </a:ext>
            </a:extLst>
          </p:cNvPr>
          <p:cNvSpPr txBox="1"/>
          <p:nvPr/>
        </p:nvSpPr>
        <p:spPr>
          <a:xfrm>
            <a:off x="1018112" y="2798400"/>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User Screen Layout ____________________________________________________________   .3</a:t>
            </a:r>
          </a:p>
        </p:txBody>
      </p:sp>
      <p:sp>
        <p:nvSpPr>
          <p:cNvPr id="13" name="TextBox 12">
            <a:extLst>
              <a:ext uri="{FF2B5EF4-FFF2-40B4-BE49-F238E27FC236}">
                <a16:creationId xmlns:a16="http://schemas.microsoft.com/office/drawing/2014/main" id="{A074592F-6E59-A557-C9EC-06AE9BDACB93}"/>
              </a:ext>
            </a:extLst>
          </p:cNvPr>
          <p:cNvSpPr txBox="1"/>
          <p:nvPr/>
        </p:nvSpPr>
        <p:spPr>
          <a:xfrm>
            <a:off x="1018112" y="3513454"/>
            <a:ext cx="10247215" cy="521553"/>
          </a:xfrm>
          <a:prstGeom prst="rect">
            <a:avLst/>
          </a:prstGeom>
          <a:noFill/>
        </p:spPr>
        <p:txBody>
          <a:bodyPr wrap="square">
            <a:spAutoFit/>
          </a:bodyPr>
          <a:lstStyle/>
          <a:p>
            <a:pPr algn="l">
              <a:lnSpc>
                <a:spcPts val="3899"/>
              </a:lnSpc>
            </a:pPr>
            <a:r>
              <a:rPr lang="en-US" b="1" spc="67" dirty="0">
                <a:solidFill>
                  <a:srgbClr val="2A2E3A"/>
                </a:solidFill>
                <a:latin typeface="Times New Roman" panose="02020603050405020304" pitchFamily="18" charset="0"/>
                <a:ea typeface="Helios"/>
                <a:cs typeface="Times New Roman" panose="02020603050405020304" pitchFamily="18" charset="0"/>
                <a:sym typeface="Helios"/>
              </a:rPr>
              <a:t>Admin </a:t>
            </a: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Screen Layout __________________________________________________________   .3</a:t>
            </a:r>
          </a:p>
        </p:txBody>
      </p:sp>
      <p:sp>
        <p:nvSpPr>
          <p:cNvPr id="14" name="TextBox 13">
            <a:extLst>
              <a:ext uri="{FF2B5EF4-FFF2-40B4-BE49-F238E27FC236}">
                <a16:creationId xmlns:a16="http://schemas.microsoft.com/office/drawing/2014/main" id="{BF3EE4F6-C37F-BE3F-DCB7-B4691E5E5555}"/>
              </a:ext>
            </a:extLst>
          </p:cNvPr>
          <p:cNvSpPr txBox="1"/>
          <p:nvPr/>
        </p:nvSpPr>
        <p:spPr>
          <a:xfrm>
            <a:off x="1018112" y="4072358"/>
            <a:ext cx="10155775" cy="521553"/>
          </a:xfrm>
          <a:prstGeom prst="rect">
            <a:avLst/>
          </a:prstGeom>
          <a:noFill/>
        </p:spPr>
        <p:txBody>
          <a:bodyPr wrap="square">
            <a:spAutoFit/>
          </a:bodyPr>
          <a:lstStyle/>
          <a:p>
            <a:pPr algn="l">
              <a:lnSpc>
                <a:spcPts val="3899"/>
              </a:lnSpc>
            </a:pPr>
            <a:r>
              <a:rPr lang="en-US" b="1" spc="67" dirty="0" err="1">
                <a:solidFill>
                  <a:srgbClr val="2A2E3A"/>
                </a:solidFill>
                <a:latin typeface="Times New Roman" panose="02020603050405020304" pitchFamily="18" charset="0"/>
                <a:ea typeface="Helios"/>
                <a:cs typeface="Times New Roman" panose="02020603050405020304" pitchFamily="18" charset="0"/>
                <a:sym typeface="Helios"/>
              </a:rPr>
              <a:t>Sampaling</a:t>
            </a:r>
            <a:r>
              <a:rPr lang="en-US" b="1" spc="67" dirty="0">
                <a:solidFill>
                  <a:srgbClr val="2A2E3A"/>
                </a:solidFill>
                <a:latin typeface="Times New Roman" panose="02020603050405020304" pitchFamily="18" charset="0"/>
                <a:ea typeface="Helios"/>
                <a:cs typeface="Times New Roman" panose="02020603050405020304" pitchFamily="18" charset="0"/>
                <a:sym typeface="Helios"/>
              </a:rPr>
              <a:t> Coding _____</a:t>
            </a: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________________________________________________________   .3</a:t>
            </a:r>
          </a:p>
        </p:txBody>
      </p:sp>
      <p:sp>
        <p:nvSpPr>
          <p:cNvPr id="15" name="TextBox 14">
            <a:extLst>
              <a:ext uri="{FF2B5EF4-FFF2-40B4-BE49-F238E27FC236}">
                <a16:creationId xmlns:a16="http://schemas.microsoft.com/office/drawing/2014/main" id="{23F03B3B-E3B7-E50D-D409-54787BF64CBD}"/>
              </a:ext>
            </a:extLst>
          </p:cNvPr>
          <p:cNvSpPr txBox="1"/>
          <p:nvPr/>
        </p:nvSpPr>
        <p:spPr>
          <a:xfrm>
            <a:off x="1018112" y="4614520"/>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Future Enhancement ___________________________________________________________   .3</a:t>
            </a:r>
          </a:p>
        </p:txBody>
      </p:sp>
      <p:sp>
        <p:nvSpPr>
          <p:cNvPr id="16" name="TextBox 15">
            <a:extLst>
              <a:ext uri="{FF2B5EF4-FFF2-40B4-BE49-F238E27FC236}">
                <a16:creationId xmlns:a16="http://schemas.microsoft.com/office/drawing/2014/main" id="{EEC7410D-429C-0674-154A-D49CEDD93F11}"/>
              </a:ext>
            </a:extLst>
          </p:cNvPr>
          <p:cNvSpPr txBox="1"/>
          <p:nvPr/>
        </p:nvSpPr>
        <p:spPr>
          <a:xfrm>
            <a:off x="972394" y="5156682"/>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Conclusion ___________________________________________________________________   .3</a:t>
            </a:r>
          </a:p>
        </p:txBody>
      </p:sp>
      <p:sp>
        <p:nvSpPr>
          <p:cNvPr id="17" name="TextBox 16">
            <a:extLst>
              <a:ext uri="{FF2B5EF4-FFF2-40B4-BE49-F238E27FC236}">
                <a16:creationId xmlns:a16="http://schemas.microsoft.com/office/drawing/2014/main" id="{7EE55969-32CA-225E-2C2C-EB2989C1926F}"/>
              </a:ext>
            </a:extLst>
          </p:cNvPr>
          <p:cNvSpPr txBox="1"/>
          <p:nvPr/>
        </p:nvSpPr>
        <p:spPr>
          <a:xfrm>
            <a:off x="913840" y="5673308"/>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Bibliography __________________________________________________________________   .3</a:t>
            </a:r>
          </a:p>
        </p:txBody>
      </p:sp>
      <p:sp>
        <p:nvSpPr>
          <p:cNvPr id="18" name="TextBox 17">
            <a:extLst>
              <a:ext uri="{FF2B5EF4-FFF2-40B4-BE49-F238E27FC236}">
                <a16:creationId xmlns:a16="http://schemas.microsoft.com/office/drawing/2014/main" id="{726CD0D0-E48C-2AEE-692E-1ADB58FD14BB}"/>
              </a:ext>
            </a:extLst>
          </p:cNvPr>
          <p:cNvSpPr txBox="1"/>
          <p:nvPr/>
        </p:nvSpPr>
        <p:spPr>
          <a:xfrm>
            <a:off x="1170512" y="3315115"/>
            <a:ext cx="10155775" cy="521553"/>
          </a:xfrm>
          <a:prstGeom prst="rect">
            <a:avLst/>
          </a:prstGeom>
          <a:noFill/>
        </p:spPr>
        <p:txBody>
          <a:bodyPr wrap="square">
            <a:spAutoFit/>
          </a:bodyPr>
          <a:lstStyle/>
          <a:p>
            <a:pPr algn="l">
              <a:lnSpc>
                <a:spcPts val="3899"/>
              </a:lnSpc>
            </a:pPr>
            <a:r>
              <a:rPr lang="en-US" sz="1800" b="1" spc="67" dirty="0">
                <a:solidFill>
                  <a:srgbClr val="2A2E3A"/>
                </a:solidFill>
                <a:latin typeface="Times New Roman" panose="02020603050405020304" pitchFamily="18" charset="0"/>
                <a:ea typeface="Helios"/>
                <a:cs typeface="Times New Roman" panose="02020603050405020304" pitchFamily="18" charset="0"/>
                <a:sym typeface="Helios"/>
              </a:rPr>
              <a:t>Company Screen Layout ________________________________________________________   .3</a:t>
            </a:r>
          </a:p>
        </p:txBody>
      </p:sp>
    </p:spTree>
    <p:extLst>
      <p:ext uri="{BB962C8B-B14F-4D97-AF65-F5344CB8AC3E}">
        <p14:creationId xmlns:p14="http://schemas.microsoft.com/office/powerpoint/2010/main" val="1548546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2D1D11A-9603-2B0E-F104-4A4EE4FCBDF4}"/>
              </a:ext>
            </a:extLst>
          </p:cNvPr>
          <p:cNvGrpSpPr/>
          <p:nvPr/>
        </p:nvGrpSpPr>
        <p:grpSpPr>
          <a:xfrm>
            <a:off x="-328245" y="1"/>
            <a:ext cx="12778154" cy="1781907"/>
            <a:chOff x="0" y="0"/>
            <a:chExt cx="24384000" cy="5030819"/>
          </a:xfrm>
        </p:grpSpPr>
        <p:pic>
          <p:nvPicPr>
            <p:cNvPr id="3" name="Picture 2">
              <a:extLst>
                <a:ext uri="{FF2B5EF4-FFF2-40B4-BE49-F238E27FC236}">
                  <a16:creationId xmlns:a16="http://schemas.microsoft.com/office/drawing/2014/main" id="{BE0EDBF7-8333-EC52-AF95-52797B197800}"/>
                </a:ext>
              </a:extLst>
            </p:cNvPr>
            <p:cNvPicPr>
              <a:picLocks noChangeAspect="1"/>
            </p:cNvPicPr>
            <p:nvPr/>
          </p:nvPicPr>
          <p:blipFill>
            <a:blip r:embed="rId2">
              <a:alphaModFix amt="14000"/>
            </a:blip>
            <a:srcRect t="27933" b="41099"/>
            <a:stretch>
              <a:fillRect/>
            </a:stretch>
          </p:blipFill>
          <p:spPr>
            <a:xfrm>
              <a:off x="0" y="0"/>
              <a:ext cx="24384000" cy="5030819"/>
            </a:xfrm>
            <a:prstGeom prst="rect">
              <a:avLst/>
            </a:prstGeom>
          </p:spPr>
        </p:pic>
      </p:grpSp>
      <p:sp>
        <p:nvSpPr>
          <p:cNvPr id="5" name="TextBox 4">
            <a:extLst>
              <a:ext uri="{FF2B5EF4-FFF2-40B4-BE49-F238E27FC236}">
                <a16:creationId xmlns:a16="http://schemas.microsoft.com/office/drawing/2014/main" id="{AB059752-F7F9-3C4B-F331-01770F1D3417}"/>
              </a:ext>
            </a:extLst>
          </p:cNvPr>
          <p:cNvSpPr txBox="1"/>
          <p:nvPr/>
        </p:nvSpPr>
        <p:spPr>
          <a:xfrm>
            <a:off x="4206240" y="549835"/>
            <a:ext cx="5029200"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Project Profile</a:t>
            </a:r>
          </a:p>
        </p:txBody>
      </p:sp>
      <p:graphicFrame>
        <p:nvGraphicFramePr>
          <p:cNvPr id="7" name="Table 6">
            <a:extLst>
              <a:ext uri="{FF2B5EF4-FFF2-40B4-BE49-F238E27FC236}">
                <a16:creationId xmlns:a16="http://schemas.microsoft.com/office/drawing/2014/main" id="{225DAD37-003A-02BD-0C83-2785A78D2EFA}"/>
              </a:ext>
            </a:extLst>
          </p:cNvPr>
          <p:cNvGraphicFramePr>
            <a:graphicFrameLocks noGrp="1"/>
          </p:cNvGraphicFramePr>
          <p:nvPr>
            <p:extLst>
              <p:ext uri="{D42A27DB-BD31-4B8C-83A1-F6EECF244321}">
                <p14:modId xmlns:p14="http://schemas.microsoft.com/office/powerpoint/2010/main" val="2679126650"/>
              </p:ext>
            </p:extLst>
          </p:nvPr>
        </p:nvGraphicFramePr>
        <p:xfrm>
          <a:off x="1788552" y="2331742"/>
          <a:ext cx="8544560" cy="3379894"/>
        </p:xfrm>
        <a:graphic>
          <a:graphicData uri="http://schemas.openxmlformats.org/drawingml/2006/table">
            <a:tbl>
              <a:tblPr firstRow="1" bandRow="1">
                <a:tableStyleId>{2D5ABB26-0587-4C30-8999-92F81FD0307C}</a:tableStyleId>
              </a:tblPr>
              <a:tblGrid>
                <a:gridCol w="4272280">
                  <a:extLst>
                    <a:ext uri="{9D8B030D-6E8A-4147-A177-3AD203B41FA5}">
                      <a16:colId xmlns:a16="http://schemas.microsoft.com/office/drawing/2014/main" val="332449444"/>
                    </a:ext>
                  </a:extLst>
                </a:gridCol>
                <a:gridCol w="4272280">
                  <a:extLst>
                    <a:ext uri="{9D8B030D-6E8A-4147-A177-3AD203B41FA5}">
                      <a16:colId xmlns:a16="http://schemas.microsoft.com/office/drawing/2014/main" val="4044501124"/>
                    </a:ext>
                  </a:extLst>
                </a:gridCol>
              </a:tblGrid>
              <a:tr h="941494">
                <a:tc>
                  <a:txBody>
                    <a:bodyPr/>
                    <a:lstStyle/>
                    <a:p>
                      <a:pPr algn="l"/>
                      <a:endParaRPr lang="en-US" dirty="0"/>
                    </a:p>
                    <a:p>
                      <a:pPr algn="ctr"/>
                      <a:r>
                        <a:rPr lang="en-IN" sz="2800" b="1" dirty="0"/>
                        <a:t>Project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p>
                      <a:pPr algn="ctr"/>
                      <a:r>
                        <a:rPr lang="en-IN" sz="2800" b="1" dirty="0" err="1">
                          <a:latin typeface="Times New Roman" panose="02020603050405020304" pitchFamily="18" charset="0"/>
                          <a:cs typeface="Times New Roman" panose="02020603050405020304" pitchFamily="18" charset="0"/>
                        </a:rPr>
                        <a:t>HireSphere</a:t>
                      </a:r>
                      <a:r>
                        <a:rPr lang="en-IN" sz="2800" b="1" dirty="0">
                          <a:latin typeface="Times New Roman" panose="02020603050405020304" pitchFamily="18" charset="0"/>
                          <a:cs typeface="Times New Roman" panose="02020603050405020304" pitchFamily="18" charset="0"/>
                        </a:rPr>
                        <a:t>(Job Portal)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86544"/>
                  </a:ext>
                </a:extLst>
              </a:tr>
              <a:tr h="914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1" dirty="0"/>
                        <a:t>Project Name</a:t>
                      </a:r>
                    </a:p>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7566618"/>
                  </a:ext>
                </a:extLst>
              </a:tr>
              <a:tr h="654191">
                <a:tc>
                  <a:txBody>
                    <a:bodyPr/>
                    <a:lstStyle/>
                    <a:p>
                      <a:pPr algn="ctr"/>
                      <a:endParaRPr lang="en-US" sz="2800" b="1" dirty="0"/>
                    </a:p>
                    <a:p>
                      <a:pPr algn="ctr"/>
                      <a:r>
                        <a:rPr lang="en-US" sz="2800" b="1" dirty="0"/>
                        <a:t>Objectives</a:t>
                      </a:r>
                      <a:endParaRPr lang="en-IN" sz="2800" b="1" dirty="0"/>
                    </a:p>
                    <a:p>
                      <a:pPr algn="ctr"/>
                      <a:endParaRPr lang="en-I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7840650"/>
                  </a:ext>
                </a:extLst>
              </a:tr>
            </a:tbl>
          </a:graphicData>
        </a:graphic>
      </p:graphicFrame>
    </p:spTree>
    <p:extLst>
      <p:ext uri="{BB962C8B-B14F-4D97-AF65-F5344CB8AC3E}">
        <p14:creationId xmlns:p14="http://schemas.microsoft.com/office/powerpoint/2010/main" val="2313676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C9F12C7-CD9A-30DC-EC3A-55929F6B891A}"/>
              </a:ext>
            </a:extLst>
          </p:cNvPr>
          <p:cNvSpPr txBox="1"/>
          <p:nvPr/>
        </p:nvSpPr>
        <p:spPr>
          <a:xfrm>
            <a:off x="533400" y="303014"/>
            <a:ext cx="4572000" cy="1569660"/>
          </a:xfrm>
          <a:prstGeom prst="rect">
            <a:avLst/>
          </a:prstGeom>
          <a:noFill/>
        </p:spPr>
        <p:txBody>
          <a:bodyPr wrap="square">
            <a:spAutoFit/>
          </a:bodyPr>
          <a:lstStyle/>
          <a:p>
            <a:r>
              <a:rPr lang="en-US" sz="4800" b="1" dirty="0">
                <a:latin typeface="Times New Roman" panose="02020603050405020304" pitchFamily="18" charset="0"/>
                <a:cs typeface="Times New Roman" panose="02020603050405020304" pitchFamily="18" charset="0"/>
              </a:rPr>
              <a:t>Project Description</a:t>
            </a:r>
            <a:endParaRPr lang="en-IN" sz="4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80E4A3E-AB1A-D2BE-E009-0BD86035969D}"/>
              </a:ext>
            </a:extLst>
          </p:cNvPr>
          <p:cNvSpPr txBox="1"/>
          <p:nvPr/>
        </p:nvSpPr>
        <p:spPr>
          <a:xfrm>
            <a:off x="228600" y="2193130"/>
            <a:ext cx="5547360" cy="586058"/>
          </a:xfrm>
          <a:prstGeom prst="rect">
            <a:avLst/>
          </a:prstGeom>
          <a:noFill/>
        </p:spPr>
        <p:txBody>
          <a:bodyPr wrap="square">
            <a:spAutoFit/>
          </a:bodyPr>
          <a:lstStyle/>
          <a:p>
            <a:pPr marL="690879" lvl="1" indent="-345439" algn="l">
              <a:lnSpc>
                <a:spcPts val="4479"/>
              </a:lnSpc>
              <a:buFont typeface="Arial"/>
              <a:buChar char="•"/>
            </a:pPr>
            <a:r>
              <a:rPr lang="en-US" sz="1800" u="none" dirty="0">
                <a:solidFill>
                  <a:srgbClr val="2A2E3A"/>
                </a:solidFill>
                <a:latin typeface="Helios"/>
                <a:ea typeface="Helios"/>
                <a:cs typeface="Helios"/>
                <a:sym typeface="Helios"/>
              </a:rPr>
              <a:t>blank</a:t>
            </a:r>
          </a:p>
        </p:txBody>
      </p:sp>
      <p:pic>
        <p:nvPicPr>
          <p:cNvPr id="15" name="Picture 14">
            <a:extLst>
              <a:ext uri="{FF2B5EF4-FFF2-40B4-BE49-F238E27FC236}">
                <a16:creationId xmlns:a16="http://schemas.microsoft.com/office/drawing/2014/main" id="{6111DDC2-EB03-0BE6-1A97-2A68B21E3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4560" y="236220"/>
            <a:ext cx="5654040" cy="5654040"/>
          </a:xfrm>
          <a:prstGeom prst="rect">
            <a:avLst/>
          </a:prstGeom>
        </p:spPr>
      </p:pic>
    </p:spTree>
    <p:extLst>
      <p:ext uri="{BB962C8B-B14F-4D97-AF65-F5344CB8AC3E}">
        <p14:creationId xmlns:p14="http://schemas.microsoft.com/office/powerpoint/2010/main" val="4027490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9C94D0F-8A57-83B4-C7F1-FD25CDF2ACFB}"/>
              </a:ext>
            </a:extLst>
          </p:cNvPr>
          <p:cNvGrpSpPr/>
          <p:nvPr/>
        </p:nvGrpSpPr>
        <p:grpSpPr>
          <a:xfrm>
            <a:off x="-328245" y="1"/>
            <a:ext cx="12778154" cy="1781907"/>
            <a:chOff x="0" y="0"/>
            <a:chExt cx="24384000" cy="5030819"/>
          </a:xfrm>
        </p:grpSpPr>
        <p:pic>
          <p:nvPicPr>
            <p:cNvPr id="4" name="Picture 3">
              <a:extLst>
                <a:ext uri="{FF2B5EF4-FFF2-40B4-BE49-F238E27FC236}">
                  <a16:creationId xmlns:a16="http://schemas.microsoft.com/office/drawing/2014/main" id="{9CC34617-9EA0-1B7C-7DE4-4947C68E6761}"/>
                </a:ext>
              </a:extLst>
            </p:cNvPr>
            <p:cNvPicPr>
              <a:picLocks noChangeAspect="1"/>
            </p:cNvPicPr>
            <p:nvPr/>
          </p:nvPicPr>
          <p:blipFill>
            <a:blip r:embed="rId2">
              <a:alphaModFix amt="14000"/>
            </a:blip>
            <a:srcRect t="27933" b="41099"/>
            <a:stretch>
              <a:fillRect/>
            </a:stretch>
          </p:blipFill>
          <p:spPr>
            <a:xfrm>
              <a:off x="0" y="0"/>
              <a:ext cx="24384000" cy="5030819"/>
            </a:xfrm>
            <a:prstGeom prst="rect">
              <a:avLst/>
            </a:prstGeom>
          </p:spPr>
        </p:pic>
      </p:grpSp>
      <p:sp>
        <p:nvSpPr>
          <p:cNvPr id="6" name="TextBox 5">
            <a:extLst>
              <a:ext uri="{FF2B5EF4-FFF2-40B4-BE49-F238E27FC236}">
                <a16:creationId xmlns:a16="http://schemas.microsoft.com/office/drawing/2014/main" id="{16107A26-976D-3913-631D-8E44206EFAC5}"/>
              </a:ext>
            </a:extLst>
          </p:cNvPr>
          <p:cNvSpPr txBox="1"/>
          <p:nvPr/>
        </p:nvSpPr>
        <p:spPr>
          <a:xfrm>
            <a:off x="3866147" y="549835"/>
            <a:ext cx="6641430"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User Screen Layout</a:t>
            </a:r>
          </a:p>
        </p:txBody>
      </p:sp>
      <p:sp>
        <p:nvSpPr>
          <p:cNvPr id="8" name="TextBox 7">
            <a:extLst>
              <a:ext uri="{FF2B5EF4-FFF2-40B4-BE49-F238E27FC236}">
                <a16:creationId xmlns:a16="http://schemas.microsoft.com/office/drawing/2014/main" id="{168F97DF-FB43-1812-A271-0B664714135B}"/>
              </a:ext>
            </a:extLst>
          </p:cNvPr>
          <p:cNvSpPr txBox="1"/>
          <p:nvPr/>
        </p:nvSpPr>
        <p:spPr>
          <a:xfrm>
            <a:off x="0" y="1900806"/>
            <a:ext cx="2374231"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User Home Page</a:t>
            </a:r>
            <a:endParaRPr lang="en-IN" sz="2400" dirty="0"/>
          </a:p>
        </p:txBody>
      </p:sp>
      <p:pic>
        <p:nvPicPr>
          <p:cNvPr id="10" name="Picture 9">
            <a:extLst>
              <a:ext uri="{FF2B5EF4-FFF2-40B4-BE49-F238E27FC236}">
                <a16:creationId xmlns:a16="http://schemas.microsoft.com/office/drawing/2014/main" id="{4FA21E68-A021-01E7-4DF5-498B8CC3AA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8563" y="2046842"/>
            <a:ext cx="8059014" cy="4053238"/>
          </a:xfrm>
          <a:prstGeom prst="rect">
            <a:avLst/>
          </a:prstGeom>
          <a:noFill/>
          <a:ln>
            <a:noFill/>
          </a:ln>
        </p:spPr>
      </p:pic>
    </p:spTree>
    <p:extLst>
      <p:ext uri="{BB962C8B-B14F-4D97-AF65-F5344CB8AC3E}">
        <p14:creationId xmlns:p14="http://schemas.microsoft.com/office/powerpoint/2010/main" val="3426323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2C9387-5974-EBBF-AEB9-94FA9D245F8C}"/>
              </a:ext>
            </a:extLst>
          </p:cNvPr>
          <p:cNvSpPr txBox="1"/>
          <p:nvPr/>
        </p:nvSpPr>
        <p:spPr>
          <a:xfrm>
            <a:off x="144379" y="280555"/>
            <a:ext cx="2486526"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User Registration Page</a:t>
            </a:r>
            <a:endParaRPr lang="en-IN" sz="1800" dirty="0"/>
          </a:p>
        </p:txBody>
      </p:sp>
      <p:pic>
        <p:nvPicPr>
          <p:cNvPr id="6" name="Picture 5">
            <a:extLst>
              <a:ext uri="{FF2B5EF4-FFF2-40B4-BE49-F238E27FC236}">
                <a16:creationId xmlns:a16="http://schemas.microsoft.com/office/drawing/2014/main" id="{4F4F0A92-C847-14FF-E6BB-35C8C3077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537" y="649887"/>
            <a:ext cx="11020926" cy="5298411"/>
          </a:xfrm>
          <a:prstGeom prst="rect">
            <a:avLst/>
          </a:prstGeom>
        </p:spPr>
      </p:pic>
    </p:spTree>
    <p:extLst>
      <p:ext uri="{BB962C8B-B14F-4D97-AF65-F5344CB8AC3E}">
        <p14:creationId xmlns:p14="http://schemas.microsoft.com/office/powerpoint/2010/main" val="3190412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EAA315-6EB6-7EDE-5C6B-8D32E35748F0}"/>
              </a:ext>
            </a:extLst>
          </p:cNvPr>
          <p:cNvSpPr txBox="1"/>
          <p:nvPr/>
        </p:nvSpPr>
        <p:spPr>
          <a:xfrm>
            <a:off x="224589" y="136176"/>
            <a:ext cx="6096000" cy="369332"/>
          </a:xfrm>
          <a:prstGeom prst="rect">
            <a:avLst/>
          </a:prstGeom>
          <a:noFill/>
        </p:spPr>
        <p:txBody>
          <a:bodyPr wrap="square">
            <a:spAutoFit/>
          </a:bodyPr>
          <a:lstStyle/>
          <a:p>
            <a:r>
              <a:rPr lang="en-US" sz="1800" b="1" dirty="0" err="1">
                <a:latin typeface="Times New Roman" panose="02020603050405020304" pitchFamily="18" charset="0"/>
                <a:cs typeface="Times New Roman" panose="02020603050405020304" pitchFamily="18" charset="0"/>
              </a:rPr>
              <a:t>LoginPage</a:t>
            </a:r>
            <a:endParaRPr lang="en-IN" sz="1800" dirty="0"/>
          </a:p>
        </p:txBody>
      </p:sp>
      <p:pic>
        <p:nvPicPr>
          <p:cNvPr id="6" name="Picture 5">
            <a:extLst>
              <a:ext uri="{FF2B5EF4-FFF2-40B4-BE49-F238E27FC236}">
                <a16:creationId xmlns:a16="http://schemas.microsoft.com/office/drawing/2014/main" id="{0944902D-3559-3140-1D0E-4A3390D62A1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4064" y="810308"/>
            <a:ext cx="8883872" cy="4996934"/>
          </a:xfrm>
          <a:prstGeom prst="rect">
            <a:avLst/>
          </a:prstGeom>
          <a:noFill/>
          <a:ln>
            <a:noFill/>
          </a:ln>
        </p:spPr>
      </p:pic>
    </p:spTree>
    <p:extLst>
      <p:ext uri="{BB962C8B-B14F-4D97-AF65-F5344CB8AC3E}">
        <p14:creationId xmlns:p14="http://schemas.microsoft.com/office/powerpoint/2010/main" val="1898008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2B26FA-477F-1606-58DC-6EFCEEA77957}"/>
              </a:ext>
            </a:extLst>
          </p:cNvPr>
          <p:cNvSpPr txBox="1"/>
          <p:nvPr/>
        </p:nvSpPr>
        <p:spPr>
          <a:xfrm>
            <a:off x="0" y="232428"/>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Forgot Password </a:t>
            </a:r>
            <a:endParaRPr lang="en-IN" sz="1800" dirty="0"/>
          </a:p>
        </p:txBody>
      </p:sp>
      <p:pic>
        <p:nvPicPr>
          <p:cNvPr id="4" name="Picture 3">
            <a:extLst>
              <a:ext uri="{FF2B5EF4-FFF2-40B4-BE49-F238E27FC236}">
                <a16:creationId xmlns:a16="http://schemas.microsoft.com/office/drawing/2014/main" id="{E7DB970A-312C-437A-6225-1F3BB0DC12F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05802" y="730096"/>
            <a:ext cx="9180396" cy="5157356"/>
          </a:xfrm>
          <a:prstGeom prst="rect">
            <a:avLst/>
          </a:prstGeom>
          <a:noFill/>
          <a:ln>
            <a:noFill/>
          </a:ln>
        </p:spPr>
      </p:pic>
    </p:spTree>
    <p:extLst>
      <p:ext uri="{BB962C8B-B14F-4D97-AF65-F5344CB8AC3E}">
        <p14:creationId xmlns:p14="http://schemas.microsoft.com/office/powerpoint/2010/main" val="178234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19F13A-1012-91F8-DA7E-19920CAB35C9}"/>
              </a:ext>
            </a:extLst>
          </p:cNvPr>
          <p:cNvSpPr txBox="1"/>
          <p:nvPr/>
        </p:nvSpPr>
        <p:spPr>
          <a:xfrm>
            <a:off x="256673" y="328681"/>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Jobs according to category </a:t>
            </a:r>
            <a:endParaRPr lang="en-IN" sz="1800" dirty="0"/>
          </a:p>
        </p:txBody>
      </p:sp>
      <p:pic>
        <p:nvPicPr>
          <p:cNvPr id="4" name="Picture 3">
            <a:extLst>
              <a:ext uri="{FF2B5EF4-FFF2-40B4-BE49-F238E27FC236}">
                <a16:creationId xmlns:a16="http://schemas.microsoft.com/office/drawing/2014/main" id="{2E484E0C-A51E-72F2-B08C-9E665F8314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5148" y="929023"/>
            <a:ext cx="10481703" cy="4999954"/>
          </a:xfrm>
          <a:prstGeom prst="rect">
            <a:avLst/>
          </a:prstGeom>
          <a:noFill/>
          <a:ln>
            <a:noFill/>
          </a:ln>
        </p:spPr>
      </p:pic>
    </p:spTree>
    <p:extLst>
      <p:ext uri="{BB962C8B-B14F-4D97-AF65-F5344CB8AC3E}">
        <p14:creationId xmlns:p14="http://schemas.microsoft.com/office/powerpoint/2010/main" val="1799979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C7FAB2-A900-7988-7BB8-136F27AD7081}"/>
              </a:ext>
            </a:extLst>
          </p:cNvPr>
          <p:cNvSpPr txBox="1"/>
          <p:nvPr/>
        </p:nvSpPr>
        <p:spPr>
          <a:xfrm>
            <a:off x="176463" y="168259"/>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Profile Page</a:t>
            </a:r>
            <a:endParaRPr lang="en-IN" sz="1800" dirty="0"/>
          </a:p>
        </p:txBody>
      </p:sp>
      <p:pic>
        <p:nvPicPr>
          <p:cNvPr id="4" name="Picture 3">
            <a:extLst>
              <a:ext uri="{FF2B5EF4-FFF2-40B4-BE49-F238E27FC236}">
                <a16:creationId xmlns:a16="http://schemas.microsoft.com/office/drawing/2014/main" id="{C7005987-0F18-F9FC-F83A-11837B451E3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4693" y="993240"/>
            <a:ext cx="9699560" cy="4726245"/>
          </a:xfrm>
          <a:prstGeom prst="rect">
            <a:avLst/>
          </a:prstGeom>
          <a:noFill/>
          <a:ln>
            <a:noFill/>
          </a:ln>
        </p:spPr>
      </p:pic>
    </p:spTree>
    <p:extLst>
      <p:ext uri="{BB962C8B-B14F-4D97-AF65-F5344CB8AC3E}">
        <p14:creationId xmlns:p14="http://schemas.microsoft.com/office/powerpoint/2010/main" val="1019978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4B54AF-825F-B804-AD84-4E2DFFAD86A9}"/>
              </a:ext>
            </a:extLst>
          </p:cNvPr>
          <p:cNvSpPr txBox="1"/>
          <p:nvPr/>
        </p:nvSpPr>
        <p:spPr>
          <a:xfrm>
            <a:off x="128337" y="128337"/>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Job Application Form </a:t>
            </a:r>
            <a:endParaRPr lang="en-IN" sz="1800" dirty="0"/>
          </a:p>
        </p:txBody>
      </p:sp>
      <p:pic>
        <p:nvPicPr>
          <p:cNvPr id="4" name="Picture 3">
            <a:extLst>
              <a:ext uri="{FF2B5EF4-FFF2-40B4-BE49-F238E27FC236}">
                <a16:creationId xmlns:a16="http://schemas.microsoft.com/office/drawing/2014/main" id="{CEA9C934-AB5B-D138-AED2-F4A7EF33FB1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0293" y="679500"/>
            <a:ext cx="9344596" cy="5256079"/>
          </a:xfrm>
          <a:prstGeom prst="rect">
            <a:avLst/>
          </a:prstGeom>
          <a:noFill/>
          <a:ln>
            <a:noFill/>
          </a:ln>
        </p:spPr>
      </p:pic>
    </p:spTree>
    <p:extLst>
      <p:ext uri="{BB962C8B-B14F-4D97-AF65-F5344CB8AC3E}">
        <p14:creationId xmlns:p14="http://schemas.microsoft.com/office/powerpoint/2010/main" val="3577870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DE5427-9D42-2AC8-9703-2725B1316F5E}"/>
              </a:ext>
            </a:extLst>
          </p:cNvPr>
          <p:cNvPicPr>
            <a:picLocks noChangeAspect="1"/>
          </p:cNvPicPr>
          <p:nvPr/>
        </p:nvPicPr>
        <p:blipFill>
          <a:blip r:embed="rId2">
            <a:alphaModFix amt="14000"/>
          </a:blip>
          <a:srcRect t="27933" b="41099"/>
          <a:stretch>
            <a:fillRect/>
          </a:stretch>
        </p:blipFill>
        <p:spPr>
          <a:xfrm>
            <a:off x="-328245" y="1"/>
            <a:ext cx="12778154" cy="1781907"/>
          </a:xfrm>
          <a:prstGeom prst="rect">
            <a:avLst/>
          </a:prstGeom>
        </p:spPr>
      </p:pic>
      <p:sp>
        <p:nvSpPr>
          <p:cNvPr id="4" name="TextBox 3">
            <a:extLst>
              <a:ext uri="{FF2B5EF4-FFF2-40B4-BE49-F238E27FC236}">
                <a16:creationId xmlns:a16="http://schemas.microsoft.com/office/drawing/2014/main" id="{538B7BA7-A4C1-3CBA-B6E3-4E46576A4451}"/>
              </a:ext>
            </a:extLst>
          </p:cNvPr>
          <p:cNvSpPr txBox="1"/>
          <p:nvPr/>
        </p:nvSpPr>
        <p:spPr>
          <a:xfrm>
            <a:off x="2804285" y="549835"/>
            <a:ext cx="6513094"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Company Screen Layout</a:t>
            </a:r>
          </a:p>
        </p:txBody>
      </p:sp>
      <p:sp>
        <p:nvSpPr>
          <p:cNvPr id="6" name="TextBox 5">
            <a:extLst>
              <a:ext uri="{FF2B5EF4-FFF2-40B4-BE49-F238E27FC236}">
                <a16:creationId xmlns:a16="http://schemas.microsoft.com/office/drawing/2014/main" id="{7E1A4DBD-1D2B-87D1-24CE-16F68812B797}"/>
              </a:ext>
            </a:extLst>
          </p:cNvPr>
          <p:cNvSpPr txBox="1"/>
          <p:nvPr/>
        </p:nvSpPr>
        <p:spPr>
          <a:xfrm>
            <a:off x="192506" y="1962410"/>
            <a:ext cx="6384758" cy="369332"/>
          </a:xfrm>
          <a:prstGeom prst="rect">
            <a:avLst/>
          </a:prstGeom>
          <a:noFill/>
        </p:spPr>
        <p:txBody>
          <a:bodyPr wrap="square">
            <a:spAutoFit/>
          </a:bodyPr>
          <a:lstStyle/>
          <a:p>
            <a:r>
              <a:rPr lang="en-US" sz="1800" dirty="0"/>
              <a:t>Company Home Page</a:t>
            </a:r>
            <a:endParaRPr lang="en-IN" sz="1800" dirty="0"/>
          </a:p>
        </p:txBody>
      </p:sp>
      <p:pic>
        <p:nvPicPr>
          <p:cNvPr id="7" name="Picture 6">
            <a:extLst>
              <a:ext uri="{FF2B5EF4-FFF2-40B4-BE49-F238E27FC236}">
                <a16:creationId xmlns:a16="http://schemas.microsoft.com/office/drawing/2014/main" id="{F06ADBAC-676D-59AF-EADD-6C9000D0A8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528" y="1749971"/>
            <a:ext cx="7767462" cy="4584806"/>
          </a:xfrm>
          <a:prstGeom prst="rect">
            <a:avLst/>
          </a:prstGeom>
          <a:noFill/>
          <a:ln>
            <a:noFill/>
          </a:ln>
        </p:spPr>
      </p:pic>
    </p:spTree>
    <p:extLst>
      <p:ext uri="{BB962C8B-B14F-4D97-AF65-F5344CB8AC3E}">
        <p14:creationId xmlns:p14="http://schemas.microsoft.com/office/powerpoint/2010/main" val="2401954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29ACF2-3E10-4BFF-7E76-AB037FDE364B}"/>
              </a:ext>
            </a:extLst>
          </p:cNvPr>
          <p:cNvSpPr txBox="1"/>
          <p:nvPr/>
        </p:nvSpPr>
        <p:spPr>
          <a:xfrm>
            <a:off x="0" y="136176"/>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Company Registration Page</a:t>
            </a:r>
            <a:endParaRPr lang="en-IN" dirty="0"/>
          </a:p>
        </p:txBody>
      </p:sp>
      <p:pic>
        <p:nvPicPr>
          <p:cNvPr id="4" name="Picture 3">
            <a:extLst>
              <a:ext uri="{FF2B5EF4-FFF2-40B4-BE49-F238E27FC236}">
                <a16:creationId xmlns:a16="http://schemas.microsoft.com/office/drawing/2014/main" id="{897142F3-89EA-814C-FDCA-E5D4027CA82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7090" y="842461"/>
            <a:ext cx="8437820" cy="4740192"/>
          </a:xfrm>
          <a:prstGeom prst="rect">
            <a:avLst/>
          </a:prstGeom>
          <a:noFill/>
          <a:ln>
            <a:noFill/>
          </a:ln>
        </p:spPr>
      </p:pic>
    </p:spTree>
    <p:extLst>
      <p:ext uri="{BB962C8B-B14F-4D97-AF65-F5344CB8AC3E}">
        <p14:creationId xmlns:p14="http://schemas.microsoft.com/office/powerpoint/2010/main" val="1480060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3B49CB-34C7-A9DC-3BD6-DD71BC8F5367}"/>
              </a:ext>
            </a:extLst>
          </p:cNvPr>
          <p:cNvSpPr txBox="1"/>
          <p:nvPr/>
        </p:nvSpPr>
        <p:spPr>
          <a:xfrm>
            <a:off x="176463" y="232428"/>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Company Verification Form</a:t>
            </a:r>
            <a:endParaRPr lang="en-IN" dirty="0"/>
          </a:p>
        </p:txBody>
      </p:sp>
      <p:pic>
        <p:nvPicPr>
          <p:cNvPr id="4" name="Picture 3">
            <a:extLst>
              <a:ext uri="{FF2B5EF4-FFF2-40B4-BE49-F238E27FC236}">
                <a16:creationId xmlns:a16="http://schemas.microsoft.com/office/drawing/2014/main" id="{F5A6C7DD-E1AA-AEF7-E99B-0803BE61C7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1" y="868379"/>
            <a:ext cx="5783580" cy="2668905"/>
          </a:xfrm>
          <a:prstGeom prst="rect">
            <a:avLst/>
          </a:prstGeom>
          <a:noFill/>
          <a:ln>
            <a:noFill/>
          </a:ln>
        </p:spPr>
      </p:pic>
      <p:pic>
        <p:nvPicPr>
          <p:cNvPr id="5" name="Picture 4">
            <a:extLst>
              <a:ext uri="{FF2B5EF4-FFF2-40B4-BE49-F238E27FC236}">
                <a16:creationId xmlns:a16="http://schemas.microsoft.com/office/drawing/2014/main" id="{7D19E3C2-C891-33E6-09F1-94B5700E662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39511" y="3101992"/>
            <a:ext cx="5783580" cy="1937385"/>
          </a:xfrm>
          <a:prstGeom prst="rect">
            <a:avLst/>
          </a:prstGeom>
          <a:noFill/>
          <a:ln>
            <a:noFill/>
          </a:ln>
        </p:spPr>
      </p:pic>
    </p:spTree>
    <p:extLst>
      <p:ext uri="{BB962C8B-B14F-4D97-AF65-F5344CB8AC3E}">
        <p14:creationId xmlns:p14="http://schemas.microsoft.com/office/powerpoint/2010/main" val="1576786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EBFC55-848C-3F2D-15AF-F62C20BFB169}"/>
              </a:ext>
            </a:extLst>
          </p:cNvPr>
          <p:cNvSpPr txBox="1"/>
          <p:nvPr/>
        </p:nvSpPr>
        <p:spPr>
          <a:xfrm>
            <a:off x="198120" y="196334"/>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Job Applicant</a:t>
            </a:r>
            <a:endParaRPr lang="en-IN" dirty="0"/>
          </a:p>
        </p:txBody>
      </p:sp>
      <p:pic>
        <p:nvPicPr>
          <p:cNvPr id="4" name="Picture 3">
            <a:extLst>
              <a:ext uri="{FF2B5EF4-FFF2-40B4-BE49-F238E27FC236}">
                <a16:creationId xmlns:a16="http://schemas.microsoft.com/office/drawing/2014/main" id="{FF0BC496-6CDF-A349-8B3B-ECCE8E64F65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2569" y="811847"/>
            <a:ext cx="8906804" cy="5009833"/>
          </a:xfrm>
          <a:prstGeom prst="rect">
            <a:avLst/>
          </a:prstGeom>
          <a:noFill/>
          <a:ln>
            <a:noFill/>
          </a:ln>
        </p:spPr>
      </p:pic>
    </p:spTree>
    <p:extLst>
      <p:ext uri="{BB962C8B-B14F-4D97-AF65-F5344CB8AC3E}">
        <p14:creationId xmlns:p14="http://schemas.microsoft.com/office/powerpoint/2010/main" val="719695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E09AE5-A1A6-2F39-9134-A275F9FD0339}"/>
              </a:ext>
            </a:extLst>
          </p:cNvPr>
          <p:cNvSpPr txBox="1"/>
          <p:nvPr/>
        </p:nvSpPr>
        <p:spPr>
          <a:xfrm>
            <a:off x="0" y="333494"/>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Verify Application</a:t>
            </a:r>
            <a:endParaRPr lang="en-IN" dirty="0"/>
          </a:p>
        </p:txBody>
      </p:sp>
      <p:pic>
        <p:nvPicPr>
          <p:cNvPr id="4" name="Picture 3">
            <a:extLst>
              <a:ext uri="{FF2B5EF4-FFF2-40B4-BE49-F238E27FC236}">
                <a16:creationId xmlns:a16="http://schemas.microsoft.com/office/drawing/2014/main" id="{45D4D7A0-2181-42F6-36C0-90F39D8B8C1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8945" y="1060182"/>
            <a:ext cx="10157813" cy="4737636"/>
          </a:xfrm>
          <a:prstGeom prst="rect">
            <a:avLst/>
          </a:prstGeom>
          <a:noFill/>
          <a:ln>
            <a:noFill/>
          </a:ln>
        </p:spPr>
      </p:pic>
    </p:spTree>
    <p:extLst>
      <p:ext uri="{BB962C8B-B14F-4D97-AF65-F5344CB8AC3E}">
        <p14:creationId xmlns:p14="http://schemas.microsoft.com/office/powerpoint/2010/main" val="1922237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BF3228-E095-A572-DF20-AFC09A7AD6EA}"/>
              </a:ext>
            </a:extLst>
          </p:cNvPr>
          <p:cNvSpPr txBox="1"/>
          <p:nvPr/>
        </p:nvSpPr>
        <p:spPr>
          <a:xfrm>
            <a:off x="224590" y="312639"/>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Post Jobs</a:t>
            </a:r>
            <a:endParaRPr lang="en-IN" dirty="0"/>
          </a:p>
        </p:txBody>
      </p:sp>
      <p:pic>
        <p:nvPicPr>
          <p:cNvPr id="4" name="Picture 3">
            <a:extLst>
              <a:ext uri="{FF2B5EF4-FFF2-40B4-BE49-F238E27FC236}">
                <a16:creationId xmlns:a16="http://schemas.microsoft.com/office/drawing/2014/main" id="{BA3055F7-C37E-FAB1-8F06-839773FE72C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15679" y="192506"/>
            <a:ext cx="6209821" cy="3031958"/>
          </a:xfrm>
          <a:prstGeom prst="rect">
            <a:avLst/>
          </a:prstGeom>
          <a:noFill/>
          <a:ln>
            <a:noFill/>
          </a:ln>
        </p:spPr>
      </p:pic>
      <p:pic>
        <p:nvPicPr>
          <p:cNvPr id="5" name="Picture 4">
            <a:extLst>
              <a:ext uri="{FF2B5EF4-FFF2-40B4-BE49-F238E27FC236}">
                <a16:creationId xmlns:a16="http://schemas.microsoft.com/office/drawing/2014/main" id="{B7FB9B52-4490-E78B-E833-B6FFD5292F4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95662" y="3224464"/>
            <a:ext cx="6209821" cy="1969716"/>
          </a:xfrm>
          <a:prstGeom prst="rect">
            <a:avLst/>
          </a:prstGeom>
          <a:noFill/>
          <a:ln>
            <a:noFill/>
          </a:ln>
        </p:spPr>
      </p:pic>
    </p:spTree>
    <p:extLst>
      <p:ext uri="{BB962C8B-B14F-4D97-AF65-F5344CB8AC3E}">
        <p14:creationId xmlns:p14="http://schemas.microsoft.com/office/powerpoint/2010/main" val="1623674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89694F-FA6F-3432-FD98-33BFE576F09C}"/>
              </a:ext>
            </a:extLst>
          </p:cNvPr>
          <p:cNvSpPr txBox="1"/>
          <p:nvPr/>
        </p:nvSpPr>
        <p:spPr>
          <a:xfrm>
            <a:off x="0" y="264513"/>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Posted Jobs by company</a:t>
            </a:r>
            <a:endParaRPr lang="en-IN" dirty="0"/>
          </a:p>
        </p:txBody>
      </p:sp>
      <p:pic>
        <p:nvPicPr>
          <p:cNvPr id="4" name="Picture 3">
            <a:extLst>
              <a:ext uri="{FF2B5EF4-FFF2-40B4-BE49-F238E27FC236}">
                <a16:creationId xmlns:a16="http://schemas.microsoft.com/office/drawing/2014/main" id="{5D20F07F-140E-3A14-5E35-E36239618C5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7074" y="1089718"/>
            <a:ext cx="8317851" cy="4678563"/>
          </a:xfrm>
          <a:prstGeom prst="rect">
            <a:avLst/>
          </a:prstGeom>
          <a:noFill/>
          <a:ln>
            <a:noFill/>
          </a:ln>
        </p:spPr>
      </p:pic>
    </p:spTree>
    <p:extLst>
      <p:ext uri="{BB962C8B-B14F-4D97-AF65-F5344CB8AC3E}">
        <p14:creationId xmlns:p14="http://schemas.microsoft.com/office/powerpoint/2010/main" val="1490066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B359EA-D4C1-32FB-EA90-33E42535D890}"/>
              </a:ext>
            </a:extLst>
          </p:cNvPr>
          <p:cNvSpPr txBox="1"/>
          <p:nvPr/>
        </p:nvSpPr>
        <p:spPr>
          <a:xfrm>
            <a:off x="256673" y="232428"/>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Tender List</a:t>
            </a:r>
            <a:endParaRPr lang="en-IN" dirty="0"/>
          </a:p>
        </p:txBody>
      </p:sp>
      <p:pic>
        <p:nvPicPr>
          <p:cNvPr id="4" name="Picture 3">
            <a:extLst>
              <a:ext uri="{FF2B5EF4-FFF2-40B4-BE49-F238E27FC236}">
                <a16:creationId xmlns:a16="http://schemas.microsoft.com/office/drawing/2014/main" id="{8CB38A76-8245-931F-5137-50453AFA942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344" y="745775"/>
            <a:ext cx="10499311" cy="5013340"/>
          </a:xfrm>
          <a:prstGeom prst="rect">
            <a:avLst/>
          </a:prstGeom>
          <a:noFill/>
          <a:ln>
            <a:noFill/>
          </a:ln>
        </p:spPr>
      </p:pic>
    </p:spTree>
    <p:extLst>
      <p:ext uri="{BB962C8B-B14F-4D97-AF65-F5344CB8AC3E}">
        <p14:creationId xmlns:p14="http://schemas.microsoft.com/office/powerpoint/2010/main" val="1971809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0DE09-677F-C4FB-E163-BDBB2D7DF643}"/>
              </a:ext>
            </a:extLst>
          </p:cNvPr>
          <p:cNvSpPr txBox="1"/>
          <p:nvPr/>
        </p:nvSpPr>
        <p:spPr>
          <a:xfrm>
            <a:off x="336884" y="248470"/>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Company Notification</a:t>
            </a:r>
            <a:endParaRPr lang="en-IN" dirty="0"/>
          </a:p>
        </p:txBody>
      </p:sp>
      <p:pic>
        <p:nvPicPr>
          <p:cNvPr id="4" name="Picture 3">
            <a:extLst>
              <a:ext uri="{FF2B5EF4-FFF2-40B4-BE49-F238E27FC236}">
                <a16:creationId xmlns:a16="http://schemas.microsoft.com/office/drawing/2014/main" id="{0863B5EB-5F4E-0E04-A4EE-8355C67B40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1368" y="855962"/>
            <a:ext cx="9549264" cy="5371199"/>
          </a:xfrm>
          <a:prstGeom prst="rect">
            <a:avLst/>
          </a:prstGeom>
          <a:noFill/>
          <a:ln>
            <a:noFill/>
          </a:ln>
        </p:spPr>
      </p:pic>
    </p:spTree>
    <p:extLst>
      <p:ext uri="{BB962C8B-B14F-4D97-AF65-F5344CB8AC3E}">
        <p14:creationId xmlns:p14="http://schemas.microsoft.com/office/powerpoint/2010/main" val="527118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C1E685-61A6-2A6A-8F92-8EB90DCF72B3}"/>
              </a:ext>
            </a:extLst>
          </p:cNvPr>
          <p:cNvPicPr>
            <a:picLocks noChangeAspect="1"/>
          </p:cNvPicPr>
          <p:nvPr/>
        </p:nvPicPr>
        <p:blipFill>
          <a:blip r:embed="rId2">
            <a:alphaModFix amt="14000"/>
          </a:blip>
          <a:srcRect t="27933" b="41099"/>
          <a:stretch>
            <a:fillRect/>
          </a:stretch>
        </p:blipFill>
        <p:spPr>
          <a:xfrm>
            <a:off x="-328245" y="1"/>
            <a:ext cx="12778154" cy="1781907"/>
          </a:xfrm>
          <a:prstGeom prst="rect">
            <a:avLst/>
          </a:prstGeom>
        </p:spPr>
      </p:pic>
      <p:sp>
        <p:nvSpPr>
          <p:cNvPr id="4" name="TextBox 3">
            <a:extLst>
              <a:ext uri="{FF2B5EF4-FFF2-40B4-BE49-F238E27FC236}">
                <a16:creationId xmlns:a16="http://schemas.microsoft.com/office/drawing/2014/main" id="{833EB57B-DF93-58C4-32AD-CDE4254AC3E6}"/>
              </a:ext>
            </a:extLst>
          </p:cNvPr>
          <p:cNvSpPr txBox="1"/>
          <p:nvPr/>
        </p:nvSpPr>
        <p:spPr>
          <a:xfrm>
            <a:off x="3657600" y="549835"/>
            <a:ext cx="6384758" cy="682238"/>
          </a:xfrm>
          <a:prstGeom prst="rect">
            <a:avLst/>
          </a:prstGeom>
          <a:noFill/>
        </p:spPr>
        <p:txBody>
          <a:bodyPr wrap="square">
            <a:spAutoFit/>
          </a:bodyPr>
          <a:lstStyle/>
          <a:p>
            <a:pPr marL="0" lvl="0" indent="0" algn="l">
              <a:lnSpc>
                <a:spcPts val="4559"/>
              </a:lnSpc>
              <a:spcBef>
                <a:spcPct val="0"/>
              </a:spcBef>
            </a:pPr>
            <a:r>
              <a:rPr lang="en-US" sz="4400" b="1" dirty="0">
                <a:solidFill>
                  <a:srgbClr val="718BAB"/>
                </a:solidFill>
                <a:latin typeface="Times New Roman" panose="02020603050405020304" pitchFamily="18" charset="0"/>
                <a:ea typeface="Klein Bold"/>
                <a:cs typeface="Times New Roman" panose="02020603050405020304" pitchFamily="18" charset="0"/>
                <a:sym typeface="Klein Bold"/>
              </a:rPr>
              <a:t>Admin Screen Layout</a:t>
            </a:r>
          </a:p>
        </p:txBody>
      </p:sp>
      <p:sp>
        <p:nvSpPr>
          <p:cNvPr id="6" name="TextBox 5">
            <a:extLst>
              <a:ext uri="{FF2B5EF4-FFF2-40B4-BE49-F238E27FC236}">
                <a16:creationId xmlns:a16="http://schemas.microsoft.com/office/drawing/2014/main" id="{60322762-6B8D-5301-F727-AA8D3589C8AC}"/>
              </a:ext>
            </a:extLst>
          </p:cNvPr>
          <p:cNvSpPr txBox="1"/>
          <p:nvPr/>
        </p:nvSpPr>
        <p:spPr>
          <a:xfrm>
            <a:off x="224589" y="1962410"/>
            <a:ext cx="6384758"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Admin Home Page</a:t>
            </a:r>
            <a:endParaRPr lang="en-IN" dirty="0"/>
          </a:p>
        </p:txBody>
      </p:sp>
      <p:pic>
        <p:nvPicPr>
          <p:cNvPr id="7" name="Picture 6">
            <a:extLst>
              <a:ext uri="{FF2B5EF4-FFF2-40B4-BE49-F238E27FC236}">
                <a16:creationId xmlns:a16="http://schemas.microsoft.com/office/drawing/2014/main" id="{499BB4FA-50D1-7D6D-72CD-92B7A0DDEB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6084" y="1948753"/>
            <a:ext cx="7479832" cy="4207200"/>
          </a:xfrm>
          <a:prstGeom prst="rect">
            <a:avLst/>
          </a:prstGeom>
          <a:noFill/>
          <a:ln>
            <a:noFill/>
          </a:ln>
        </p:spPr>
      </p:pic>
    </p:spTree>
    <p:extLst>
      <p:ext uri="{BB962C8B-B14F-4D97-AF65-F5344CB8AC3E}">
        <p14:creationId xmlns:p14="http://schemas.microsoft.com/office/powerpoint/2010/main" val="755451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8DF1C-8796-6613-11AD-C2F87017C2B0}"/>
              </a:ext>
            </a:extLst>
          </p:cNvPr>
          <p:cNvSpPr txBox="1"/>
          <p:nvPr/>
        </p:nvSpPr>
        <p:spPr>
          <a:xfrm>
            <a:off x="224590" y="184302"/>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Company list</a:t>
            </a:r>
            <a:endParaRPr lang="en-IN" dirty="0"/>
          </a:p>
        </p:txBody>
      </p:sp>
      <p:pic>
        <p:nvPicPr>
          <p:cNvPr id="4" name="Picture 3">
            <a:extLst>
              <a:ext uri="{FF2B5EF4-FFF2-40B4-BE49-F238E27FC236}">
                <a16:creationId xmlns:a16="http://schemas.microsoft.com/office/drawing/2014/main" id="{D305802F-3E93-90F7-C800-C316F2863BC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8946" y="842656"/>
            <a:ext cx="9196337" cy="5172687"/>
          </a:xfrm>
          <a:prstGeom prst="rect">
            <a:avLst/>
          </a:prstGeom>
          <a:noFill/>
          <a:ln>
            <a:noFill/>
          </a:ln>
        </p:spPr>
      </p:pic>
    </p:spTree>
    <p:extLst>
      <p:ext uri="{BB962C8B-B14F-4D97-AF65-F5344CB8AC3E}">
        <p14:creationId xmlns:p14="http://schemas.microsoft.com/office/powerpoint/2010/main" val="1780286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5925DF-38D2-3189-ADCA-B5E84ADE679A}"/>
              </a:ext>
            </a:extLst>
          </p:cNvPr>
          <p:cNvSpPr txBox="1"/>
          <p:nvPr/>
        </p:nvSpPr>
        <p:spPr>
          <a:xfrm>
            <a:off x="128337" y="184302"/>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User List</a:t>
            </a:r>
            <a:endParaRPr lang="en-IN" dirty="0"/>
          </a:p>
        </p:txBody>
      </p:sp>
      <p:pic>
        <p:nvPicPr>
          <p:cNvPr id="4" name="Picture 3">
            <a:extLst>
              <a:ext uri="{FF2B5EF4-FFF2-40B4-BE49-F238E27FC236}">
                <a16:creationId xmlns:a16="http://schemas.microsoft.com/office/drawing/2014/main" id="{E46ECEF3-839F-1B4D-02C5-D2F5CBA99AE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3956" y="368968"/>
            <a:ext cx="9324675" cy="5244874"/>
          </a:xfrm>
          <a:prstGeom prst="rect">
            <a:avLst/>
          </a:prstGeom>
          <a:noFill/>
          <a:ln>
            <a:noFill/>
          </a:ln>
        </p:spPr>
      </p:pic>
    </p:spTree>
    <p:extLst>
      <p:ext uri="{BB962C8B-B14F-4D97-AF65-F5344CB8AC3E}">
        <p14:creationId xmlns:p14="http://schemas.microsoft.com/office/powerpoint/2010/main" val="1171038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68FA94-4621-B28E-53D8-D02FE8412E6B}"/>
              </a:ext>
            </a:extLst>
          </p:cNvPr>
          <p:cNvSpPr txBox="1"/>
          <p:nvPr/>
        </p:nvSpPr>
        <p:spPr>
          <a:xfrm>
            <a:off x="0" y="264513"/>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Category List</a:t>
            </a:r>
            <a:endParaRPr lang="en-IN" dirty="0"/>
          </a:p>
        </p:txBody>
      </p:sp>
      <p:pic>
        <p:nvPicPr>
          <p:cNvPr id="4" name="Picture 3">
            <a:extLst>
              <a:ext uri="{FF2B5EF4-FFF2-40B4-BE49-F238E27FC236}">
                <a16:creationId xmlns:a16="http://schemas.microsoft.com/office/drawing/2014/main" id="{99EE2AD4-A477-65E2-C8DB-E298BA0FE6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273" y="633845"/>
            <a:ext cx="8859453" cy="4983199"/>
          </a:xfrm>
          <a:prstGeom prst="rect">
            <a:avLst/>
          </a:prstGeom>
          <a:noFill/>
          <a:ln>
            <a:noFill/>
          </a:ln>
        </p:spPr>
      </p:pic>
    </p:spTree>
    <p:extLst>
      <p:ext uri="{BB962C8B-B14F-4D97-AF65-F5344CB8AC3E}">
        <p14:creationId xmlns:p14="http://schemas.microsoft.com/office/powerpoint/2010/main" val="2388812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4874A2-DAAF-4824-663E-A67117665926}"/>
              </a:ext>
            </a:extLst>
          </p:cNvPr>
          <p:cNvSpPr txBox="1"/>
          <p:nvPr/>
        </p:nvSpPr>
        <p:spPr>
          <a:xfrm>
            <a:off x="128336" y="248470"/>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Company Verification page by admin</a:t>
            </a:r>
            <a:endParaRPr lang="en-IN" dirty="0"/>
          </a:p>
        </p:txBody>
      </p:sp>
      <p:pic>
        <p:nvPicPr>
          <p:cNvPr id="4" name="Picture 3">
            <a:extLst>
              <a:ext uri="{FF2B5EF4-FFF2-40B4-BE49-F238E27FC236}">
                <a16:creationId xmlns:a16="http://schemas.microsoft.com/office/drawing/2014/main" id="{3AEA0837-9F09-48F5-E2D4-AD14B202B3F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1872" y="839921"/>
            <a:ext cx="8688620" cy="4887110"/>
          </a:xfrm>
          <a:prstGeom prst="rect">
            <a:avLst/>
          </a:prstGeom>
          <a:noFill/>
          <a:ln>
            <a:noFill/>
          </a:ln>
        </p:spPr>
      </p:pic>
    </p:spTree>
    <p:extLst>
      <p:ext uri="{BB962C8B-B14F-4D97-AF65-F5344CB8AC3E}">
        <p14:creationId xmlns:p14="http://schemas.microsoft.com/office/powerpoint/2010/main" val="3833337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8438BB-93EF-AC02-5BB2-2EF50B526144}"/>
              </a:ext>
            </a:extLst>
          </p:cNvPr>
          <p:cNvSpPr txBox="1"/>
          <p:nvPr/>
        </p:nvSpPr>
        <p:spPr>
          <a:xfrm>
            <a:off x="208547" y="248471"/>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Future Enhancement</a:t>
            </a:r>
            <a:endParaRPr lang="en-IN" dirty="0"/>
          </a:p>
        </p:txBody>
      </p:sp>
      <p:sp>
        <p:nvSpPr>
          <p:cNvPr id="7" name="TextBox 6">
            <a:extLst>
              <a:ext uri="{FF2B5EF4-FFF2-40B4-BE49-F238E27FC236}">
                <a16:creationId xmlns:a16="http://schemas.microsoft.com/office/drawing/2014/main" id="{412D2728-D4FF-8031-6A46-B05669F7FD62}"/>
              </a:ext>
            </a:extLst>
          </p:cNvPr>
          <p:cNvSpPr txBox="1"/>
          <p:nvPr/>
        </p:nvSpPr>
        <p:spPr>
          <a:xfrm>
            <a:off x="208547" y="862174"/>
            <a:ext cx="11774906" cy="5283049"/>
          </a:xfrm>
          <a:prstGeom prst="rect">
            <a:avLst/>
          </a:prstGeom>
          <a:noFill/>
        </p:spPr>
        <p:txBody>
          <a:bodyPr wrap="square">
            <a:spAutoFit/>
          </a:bodyPr>
          <a:lstStyle/>
          <a:p>
            <a:pPr>
              <a:lnSpc>
                <a:spcPct val="107000"/>
              </a:lnSpc>
              <a:spcAft>
                <a:spcPts val="1365"/>
              </a:spcAft>
              <a:buNone/>
            </a:pPr>
            <a:r>
              <a:rPr lang="en-IN" sz="14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400" b="1" kern="100" dirty="0">
                <a:solidFill>
                  <a:srgbClr val="000000"/>
                </a:solidFill>
                <a:effectLst/>
                <a:latin typeface="Times New Roman" panose="02020603050405020304" pitchFamily="18" charset="0"/>
                <a:ea typeface="Times New Roman" panose="02020603050405020304" pitchFamily="18" charset="0"/>
              </a:rPr>
              <a:t>What’s Coming Next – The Future of Your Career, Simplified</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We're building more than just a job portal — we're creating your personalized career companion. Here's a sneak peek into features we're rolling out soon to empower every candidate to grow, learn, and get hired smarter:</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 </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400" b="1" kern="100" dirty="0">
                <a:solidFill>
                  <a:srgbClr val="000000"/>
                </a:solidFill>
                <a:effectLst/>
                <a:latin typeface="Times New Roman" panose="02020603050405020304" pitchFamily="18" charset="0"/>
                <a:ea typeface="Times New Roman" panose="02020603050405020304" pitchFamily="18" charset="0"/>
              </a:rPr>
              <a:t> Smart Resume Highlighting</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Stand out to top recruiters effortlessly. Our AI-enhanced resume builder will auto-optimize your profile based on job roles, trending skills, and recruiter preferences.</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 </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400" b="1" kern="100" dirty="0">
                <a:solidFill>
                  <a:srgbClr val="000000"/>
                </a:solidFill>
                <a:effectLst/>
                <a:latin typeface="Times New Roman" panose="02020603050405020304" pitchFamily="18" charset="0"/>
                <a:ea typeface="Times New Roman" panose="02020603050405020304" pitchFamily="18" charset="0"/>
              </a:rPr>
              <a:t> Skill Tests &amp; Verified Certifications</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Boost your credibility with built-in assessments. Whether you're into coding, design, marketing, or medicine — earn skill badges that recruiters trust.</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 </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400" b="1" kern="100" dirty="0">
                <a:solidFill>
                  <a:srgbClr val="000000"/>
                </a:solidFill>
                <a:effectLst/>
                <a:latin typeface="Times New Roman" panose="02020603050405020304" pitchFamily="18" charset="0"/>
                <a:ea typeface="Times New Roman" panose="02020603050405020304" pitchFamily="18" charset="0"/>
              </a:rPr>
              <a:t> Personal To-Do &amp; Smart Notes</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400" b="1" kern="100" dirty="0">
                <a:solidFill>
                  <a:srgbClr val="000000"/>
                </a:solidFill>
                <a:effectLst/>
                <a:latin typeface="Times New Roman" panose="02020603050405020304" pitchFamily="18" charset="0"/>
                <a:ea typeface="Times New Roman" panose="02020603050405020304" pitchFamily="18" charset="0"/>
              </a:rPr>
              <a:t>Manage your applications, follow-ups, learning goals, and interview prep in one place. Stay focused and organized with personalized reminders.</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pPr>
            <a:r>
              <a:rPr lang="en-IN" sz="1400" b="1" kern="100" dirty="0">
                <a:solidFill>
                  <a:srgbClr val="000000"/>
                </a:solidFill>
                <a:effectLst/>
                <a:latin typeface="Times New Roman" panose="02020603050405020304" pitchFamily="18" charset="0"/>
                <a:ea typeface="Times New Roman" panose="02020603050405020304" pitchFamily="18" charset="0"/>
              </a:rPr>
              <a:t> </a:t>
            </a:r>
            <a:endParaRPr lang="en-IN" sz="14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80609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DF6FD-5C07-1323-94BE-6708631435C5}"/>
              </a:ext>
            </a:extLst>
          </p:cNvPr>
          <p:cNvSpPr txBox="1"/>
          <p:nvPr/>
        </p:nvSpPr>
        <p:spPr>
          <a:xfrm>
            <a:off x="545431" y="510968"/>
            <a:ext cx="11101137" cy="4594463"/>
          </a:xfrm>
          <a:prstGeom prst="rect">
            <a:avLst/>
          </a:prstGeom>
          <a:noFill/>
        </p:spPr>
        <p:txBody>
          <a:bodyPr wrap="square">
            <a:spAutoFit/>
          </a:bodyPr>
          <a:lstStyle/>
          <a:p>
            <a:pPr>
              <a:lnSpc>
                <a:spcPct val="107000"/>
              </a:lnSpc>
              <a:spcAft>
                <a:spcPts val="1365"/>
              </a:spcAft>
              <a:buNone/>
            </a:pPr>
            <a:r>
              <a:rPr lang="en-IN" sz="18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b="1" kern="100" dirty="0">
                <a:solidFill>
                  <a:srgbClr val="000000"/>
                </a:solidFill>
                <a:effectLst/>
                <a:latin typeface="Times New Roman" panose="02020603050405020304" pitchFamily="18" charset="0"/>
                <a:ea typeface="Times New Roman" panose="02020603050405020304" pitchFamily="18" charset="0"/>
              </a:rPr>
              <a:t> Integrated Learning &amp; Research Hub</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Books, courses, Wikipedia, YouTube explainers — all curated and categorized for your career path. Whether you're studying for an exam or brushing up before an interview, your digital study buddy is ready.</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8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b="1" kern="100" dirty="0">
                <a:solidFill>
                  <a:srgbClr val="000000"/>
                </a:solidFill>
                <a:effectLst/>
                <a:latin typeface="Times New Roman" panose="02020603050405020304" pitchFamily="18" charset="0"/>
                <a:ea typeface="Times New Roman" panose="02020603050405020304" pitchFamily="18" charset="0"/>
              </a:rPr>
              <a:t> Interview Scheduler &amp; Calendar Sync</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Never miss an opportunity. With automatic calendar integration, you'll receive alerts, prep tips, and reminders for every interview, test, or deadline.</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buNone/>
            </a:pPr>
            <a:r>
              <a:rPr lang="en-IN" sz="1800" b="1" kern="100" dirty="0">
                <a:solidFill>
                  <a:srgbClr val="000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b="1" kern="100" dirty="0">
                <a:solidFill>
                  <a:srgbClr val="000000"/>
                </a:solidFill>
                <a:effectLst/>
                <a:latin typeface="Times New Roman" panose="02020603050405020304" pitchFamily="18" charset="0"/>
                <a:ea typeface="Times New Roman" panose="02020603050405020304" pitchFamily="18" charset="0"/>
              </a:rPr>
              <a:t> Personal Study &amp; Progress Dashboard</a:t>
            </a:r>
            <a:endParaRPr lang="en-IN" sz="1400" kern="100" dirty="0">
              <a:solidFill>
                <a:srgbClr val="000000"/>
              </a:solidFill>
              <a:effectLst/>
              <a:latin typeface="Calibri" panose="020F0502020204030204" pitchFamily="34" charset="0"/>
              <a:ea typeface="Calibri" panose="020F0502020204030204" pitchFamily="34" charset="0"/>
            </a:endParaRPr>
          </a:p>
          <a:p>
            <a:pPr>
              <a:lnSpc>
                <a:spcPct val="107000"/>
              </a:lnSpc>
              <a:spcAft>
                <a:spcPts val="1365"/>
              </a:spcAft>
            </a:pPr>
            <a:r>
              <a:rPr lang="en-IN" sz="1800" b="1" kern="100" dirty="0">
                <a:solidFill>
                  <a:srgbClr val="000000"/>
                </a:solidFill>
                <a:effectLst/>
                <a:latin typeface="Times New Roman" panose="02020603050405020304" pitchFamily="18" charset="0"/>
                <a:ea typeface="Times New Roman" panose="02020603050405020304" pitchFamily="18" charset="0"/>
              </a:rPr>
              <a:t>Visualize your goals, track your learning curve, and see how your skills stack up in your chosen field — whether you're a student or a </a:t>
            </a:r>
            <a:endParaRPr lang="en-IN" sz="14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128766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3F18CD-8AF0-0561-F958-D9C0BAC7178C}"/>
              </a:ext>
            </a:extLst>
          </p:cNvPr>
          <p:cNvSpPr txBox="1"/>
          <p:nvPr/>
        </p:nvSpPr>
        <p:spPr>
          <a:xfrm>
            <a:off x="256674" y="216386"/>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Conclusion</a:t>
            </a:r>
            <a:endParaRPr lang="en-IN" dirty="0"/>
          </a:p>
        </p:txBody>
      </p:sp>
      <p:sp>
        <p:nvSpPr>
          <p:cNvPr id="5" name="TextBox 4">
            <a:extLst>
              <a:ext uri="{FF2B5EF4-FFF2-40B4-BE49-F238E27FC236}">
                <a16:creationId xmlns:a16="http://schemas.microsoft.com/office/drawing/2014/main" id="{5C87E08B-D6E3-4B67-F465-0746159FFF23}"/>
              </a:ext>
            </a:extLst>
          </p:cNvPr>
          <p:cNvSpPr txBox="1"/>
          <p:nvPr/>
        </p:nvSpPr>
        <p:spPr>
          <a:xfrm>
            <a:off x="625642" y="1397675"/>
            <a:ext cx="10892590" cy="1477328"/>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Calibri" panose="020F0502020204030204" pitchFamily="34" charset="0"/>
              </a:rPr>
              <a:t>Online job portals make it easy for job seekers to find jobs and for employers to find candidates quickly. They save time and money by offering a centralized platform for job postings and applications. With features like job matching, they help connect the right candidates with the right roles. These portals also allow access to opportunities globally, breaking location barriers. As technology improves, they continue to add new features like video interviews and skill assessments, making the job search process more efficient.</a:t>
            </a:r>
            <a:endParaRPr lang="en-IN" dirty="0"/>
          </a:p>
        </p:txBody>
      </p:sp>
    </p:spTree>
    <p:extLst>
      <p:ext uri="{BB962C8B-B14F-4D97-AF65-F5344CB8AC3E}">
        <p14:creationId xmlns:p14="http://schemas.microsoft.com/office/powerpoint/2010/main" val="3328267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25E734-B554-2AD8-6F89-32AD2900F589}"/>
              </a:ext>
            </a:extLst>
          </p:cNvPr>
          <p:cNvSpPr txBox="1"/>
          <p:nvPr/>
        </p:nvSpPr>
        <p:spPr>
          <a:xfrm>
            <a:off x="256674" y="280555"/>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Bibliography</a:t>
            </a:r>
            <a:endParaRPr lang="en-IN" dirty="0"/>
          </a:p>
        </p:txBody>
      </p:sp>
      <p:sp>
        <p:nvSpPr>
          <p:cNvPr id="5" name="TextBox 4">
            <a:extLst>
              <a:ext uri="{FF2B5EF4-FFF2-40B4-BE49-F238E27FC236}">
                <a16:creationId xmlns:a16="http://schemas.microsoft.com/office/drawing/2014/main" id="{F61FCC03-00B8-A5B6-3535-7E07A1300721}"/>
              </a:ext>
            </a:extLst>
          </p:cNvPr>
          <p:cNvSpPr txBox="1"/>
          <p:nvPr/>
        </p:nvSpPr>
        <p:spPr>
          <a:xfrm>
            <a:off x="256674" y="1459833"/>
            <a:ext cx="8887326" cy="1876411"/>
          </a:xfrm>
          <a:prstGeom prst="rect">
            <a:avLst/>
          </a:prstGeom>
          <a:noFill/>
        </p:spPr>
        <p:txBody>
          <a:bodyPr wrap="square">
            <a:spAutoFit/>
          </a:bodyPr>
          <a:lstStyle/>
          <a:p>
            <a:pPr marR="1165860" algn="ctr">
              <a:lnSpc>
                <a:spcPct val="107000"/>
              </a:lnSpc>
              <a:spcAft>
                <a:spcPts val="1195"/>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fontAlgn="base">
              <a:lnSpc>
                <a:spcPct val="107000"/>
              </a:lnSpc>
              <a:spcAft>
                <a:spcPts val="1360"/>
              </a:spcAft>
              <a:buClr>
                <a:srgbClr val="000000"/>
              </a:buClr>
              <a:buSzPts val="1100"/>
              <a:buFont typeface="Arial" panose="020B0604020202020204" pitchFamily="34" charset="0"/>
              <a:buChar char="•"/>
            </a:pPr>
            <a:r>
              <a:rPr lang="en-IN" sz="1800" u="none" strike="noStrike" kern="100" dirty="0">
                <a:solidFill>
                  <a:srgbClr val="0563C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hlinkClick r:id="rId2"/>
              </a:rPr>
              <a:t>https://www.w3schools.com/</a:t>
            </a:r>
            <a:r>
              <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hlinkClick r:id="rId2"/>
              </a:rPr>
              <a:t> </a:t>
            </a:r>
            <a:r>
              <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a:t>
            </a:r>
          </a:p>
          <a:p>
            <a:pPr marL="342900" lvl="0" indent="-342900" fontAlgn="base">
              <a:lnSpc>
                <a:spcPct val="107000"/>
              </a:lnSpc>
              <a:spcAft>
                <a:spcPts val="1360"/>
              </a:spcAft>
              <a:buClr>
                <a:srgbClr val="000000"/>
              </a:buClr>
              <a:buSzPts val="1100"/>
              <a:buFont typeface="Arial" panose="020B0604020202020204" pitchFamily="34" charset="0"/>
              <a:buChar char="•"/>
            </a:pPr>
            <a:r>
              <a:rPr lang="en-IN" sz="1800" u="none" strike="noStrike" kern="100" dirty="0">
                <a:solidFill>
                  <a:srgbClr val="0563C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hlinkClick r:id="rId3"/>
              </a:rPr>
              <a:t>https://www.google.com/</a:t>
            </a:r>
            <a:r>
              <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hlinkClick r:id="rId3"/>
              </a:rPr>
              <a:t> </a:t>
            </a:r>
            <a:r>
              <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a:t>
            </a:r>
          </a:p>
          <a:p>
            <a:pPr marL="342900" lvl="0" indent="-342900" fontAlgn="base">
              <a:lnSpc>
                <a:spcPct val="107000"/>
              </a:lnSpc>
              <a:spcAft>
                <a:spcPts val="1360"/>
              </a:spcAft>
              <a:buClr>
                <a:srgbClr val="000000"/>
              </a:buClr>
              <a:buSzPts val="1100"/>
              <a:buFont typeface="Arial" panose="020B0604020202020204" pitchFamily="34" charset="0"/>
              <a:buChar char="•"/>
            </a:pPr>
            <a:r>
              <a:rPr lang="en-IN" sz="1800" u="none" strike="noStrike" kern="100" dirty="0">
                <a:solidFill>
                  <a:srgbClr val="0563C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hlinkClick r:id="rId4"/>
              </a:rPr>
              <a:t>https://app.diagrams.net</a:t>
            </a:r>
            <a:r>
              <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hlinkClick r:id="rId4"/>
              </a:rPr>
              <a:t> </a:t>
            </a:r>
            <a:endPar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60716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blipFill>
          <a:blip xmlns:r="http://schemas.openxmlformats.org/officeDocument/2006/relationships" r:embed="rId1"/>
          <a:stretch>
            <a:fillRect l="-36128" r="-36128"/>
          </a:stretch>
        </a:blipFill>
      </a:spPr>
      <a:bodyPr/>
      <a:lstStyle>
        <a:defPPr algn="l">
          <a:defRPr/>
        </a:defPPr>
      </a:lstStyle>
    </a:spDef>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93</TotalTime>
  <Words>535</Words>
  <Application>Microsoft Office PowerPoint</Application>
  <PresentationFormat>Widescreen</PresentationFormat>
  <Paragraphs>81</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Helios</vt:lpstr>
      <vt:lpstr>Segoe UI Emoji</vt:lpstr>
      <vt:lpstr>Times New Roman</vt:lpstr>
      <vt:lpstr>Retrospect</vt:lpstr>
      <vt:lpstr>HIRESHPERE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ayanmansuri07@outlook.com</dc:creator>
  <cp:lastModifiedBy>ayanmansuri07@outlook.com</cp:lastModifiedBy>
  <cp:revision>1</cp:revision>
  <dcterms:created xsi:type="dcterms:W3CDTF">2025-04-18T05:44:07Z</dcterms:created>
  <dcterms:modified xsi:type="dcterms:W3CDTF">2025-04-18T07:17:24Z</dcterms:modified>
</cp:coreProperties>
</file>